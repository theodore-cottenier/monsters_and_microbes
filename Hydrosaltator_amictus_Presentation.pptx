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 i="1">
                <a:solidFill>
                  <a:srgbClr val="FF8243"/>
                </a:solidFill>
                <a:latin typeface="Arial"/>
              </a:defRPr>
            </a:pPr>
            <a:r>
              <a:t>Hydrosaltator amictus</a:t>
            </a:r>
          </a:p>
          <a:p>
            <a:pPr>
              <a:spcBef>
                <a:spcPts val="1200"/>
              </a:spcBef>
              <a:defRPr sz="2400">
                <a:solidFill>
                  <a:srgbClr val="FAFAFA"/>
                </a:solidFill>
                <a:latin typeface="Arial"/>
              </a:defRPr>
            </a:pPr>
            <a:r>
              <a:t>The Cloaked Hydraulic Jumper | Volcanic Spring Tick</a:t>
            </a:r>
          </a:p>
          <a:p>
            <a:pPr>
              <a:spcBef>
                <a:spcPts val="2400"/>
              </a:spcBef>
              <a:defRPr sz="1400" i="1">
                <a:solidFill>
                  <a:srgbClr val="DFE5F3"/>
                </a:solidFill>
                <a:latin typeface="Arial"/>
              </a:defRPr>
            </a:pPr>
            <a:r>
              <a:t>A Complete Compendium of Cellular Mechanics, Symbiosis, and Survival Ranges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8243"/>
                </a:solidFill>
                <a:latin typeface="Arial"/>
              </a:defRPr>
            </a:pPr>
            <a:r>
              <a:t>Core Profile &amp; Physiology</a:t>
            </a:r>
          </a:p>
          <a:p>
            <a:pPr>
              <a:spcBef>
                <a:spcPts val="400"/>
              </a:spcBef>
              <a:defRPr sz="1400">
                <a:solidFill>
                  <a:srgbClr val="DFE5F3"/>
                </a:solidFill>
                <a:latin typeface="Arial"/>
              </a:defRPr>
            </a:pPr>
            <a:r>
              <a:t>An overview of microscopic scale and cell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5486400" cy="210312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800" b="1">
                <a:solidFill>
                  <a:srgbClr val="FF8243"/>
                </a:solidFill>
                <a:latin typeface="Arial"/>
              </a:defRPr>
            </a:pPr>
            <a:r>
              <a:t>Size &amp; Scale</a:t>
            </a:r>
          </a:p>
          <a:p>
            <a:pPr>
              <a:spcBef>
                <a:spcPts val="8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0.8 mm total length — perfectly sized to maneuver through volcanic biofilms.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486400" cy="210312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800" b="1">
                <a:solidFill>
                  <a:srgbClr val="FF8243"/>
                </a:solidFill>
                <a:latin typeface="Arial"/>
              </a:defRPr>
            </a:pPr>
            <a:r>
              <a:t>Total Cell Count</a:t>
            </a:r>
          </a:p>
          <a:p>
            <a:pPr>
              <a:spcBef>
                <a:spcPts val="8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Approximately 4,000 cells (1,400 fixed core; 2,600 regenerative support), operating on a strictly divided layout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5486400" cy="210312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800" b="1">
                <a:solidFill>
                  <a:srgbClr val="FF8243"/>
                </a:solidFill>
                <a:latin typeface="Arial"/>
              </a:defRPr>
            </a:pPr>
            <a:r>
              <a:t>Eutelic Core</a:t>
            </a:r>
          </a:p>
          <a:p>
            <a:pPr>
              <a:spcBef>
                <a:spcPts val="8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The brain, sensory palps, and internal hydraulic valves have a fixed cell count for perfect reflex precision. They cannot heal.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4023360"/>
            <a:ext cx="5486400" cy="210312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800" b="1">
                <a:solidFill>
                  <a:srgbClr val="FF8243"/>
                </a:solidFill>
                <a:latin typeface="Arial"/>
              </a:defRPr>
            </a:pPr>
            <a:r>
              <a:t>Regenerative Shell</a:t>
            </a:r>
          </a:p>
          <a:p>
            <a:pPr>
              <a:spcBef>
                <a:spcPts val="8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The outer skin, limbs, and pouches can slowly divide to heal, adapt, and expand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8243"/>
                </a:solidFill>
                <a:latin typeface="Arial"/>
              </a:defRPr>
            </a:pPr>
            <a:r>
              <a:t>The Triple-Symbiosis System</a:t>
            </a:r>
          </a:p>
          <a:p>
            <a:pPr>
              <a:spcBef>
                <a:spcPts val="400"/>
              </a:spcBef>
              <a:defRPr sz="1400">
                <a:solidFill>
                  <a:srgbClr val="DFE5F3"/>
                </a:solidFill>
                <a:latin typeface="Arial"/>
              </a:defRPr>
            </a:pPr>
            <a:r>
              <a:t>Survival without an internal gut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566160" cy="4754880"/>
          </a:xfrm>
          <a:prstGeom prst="rect">
            <a:avLst/>
          </a:prstGeom>
          <a:solidFill>
            <a:srgbClr val="1B2234"/>
          </a:solidFill>
          <a:ln w="12700">
            <a:solidFill>
              <a:srgbClr val="FF8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 i="1">
                <a:solidFill>
                  <a:srgbClr val="FF8243"/>
                </a:solidFill>
                <a:latin typeface="Arial"/>
              </a:defRPr>
            </a:pPr>
            <a:r>
              <a:t>Gelatinicollum vulcanum</a:t>
            </a:r>
          </a:p>
          <a:p>
            <a:pPr>
              <a:defRPr sz="1200">
                <a:solidFill>
                  <a:srgbClr val="DFE5F3"/>
                </a:solidFill>
                <a:latin typeface="Arial"/>
              </a:defRPr>
            </a:pPr>
            <a:r>
              <a:t>(Crucible Slime)</a:t>
            </a:r>
          </a:p>
          <a:p>
            <a:pPr>
              <a:spcBef>
                <a:spcPts val="1200"/>
              </a:spcBef>
              <a:defRPr sz="1200">
                <a:solidFill>
                  <a:srgbClr val="FAFAFA"/>
                </a:solidFill>
                <a:latin typeface="Arial"/>
              </a:defRPr>
            </a:pPr>
            <a:r>
              <a:t>A clear, hyper-dense cyanobacteria matrix that acts as a structural shield, protecting the tick's raw epidermis from being melted by 85°C water while trapping the micro-partners close to the body.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645920"/>
            <a:ext cx="3566160" cy="475488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 i="1">
                <a:solidFill>
                  <a:srgbClr val="FF8243"/>
                </a:solidFill>
                <a:latin typeface="Arial"/>
              </a:defRPr>
            </a:pPr>
            <a:r>
              <a:t>Sulfuribacillus thermophilus</a:t>
            </a:r>
          </a:p>
          <a:p>
            <a:pPr>
              <a:defRPr sz="1200">
                <a:solidFill>
                  <a:srgbClr val="DFE5F3"/>
                </a:solidFill>
                <a:latin typeface="Arial"/>
              </a:defRPr>
            </a:pPr>
            <a:r>
              <a:t>(Brimstone Dust)</a:t>
            </a:r>
          </a:p>
          <a:p>
            <a:pPr>
              <a:spcBef>
                <a:spcPts val="1200"/>
              </a:spcBef>
              <a:defRPr sz="1200">
                <a:solidFill>
                  <a:srgbClr val="FAFAFA"/>
                </a:solidFill>
                <a:latin typeface="Arial"/>
              </a:defRPr>
            </a:pPr>
            <a:r>
              <a:t>Archaea layer processing raw hydrogen sulfide (H₂S) and heavy metals straight from volcanic water. It excretes a dense, sulfurous ash-byproduct that fuels the secondary partner.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645920"/>
            <a:ext cx="3566160" cy="475488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 i="1">
                <a:solidFill>
                  <a:srgbClr val="FF8243"/>
                </a:solidFill>
                <a:latin typeface="Arial"/>
              </a:defRPr>
            </a:pPr>
            <a:r>
              <a:t>Saccharoplasma lentus</a:t>
            </a:r>
          </a:p>
          <a:p>
            <a:pPr>
              <a:defRPr sz="1200">
                <a:solidFill>
                  <a:srgbClr val="DFE5F3"/>
                </a:solidFill>
                <a:latin typeface="Arial"/>
              </a:defRPr>
            </a:pPr>
            <a:r>
              <a:t>(Sugar-Silk Protist)</a:t>
            </a:r>
          </a:p>
          <a:p>
            <a:pPr>
              <a:spcBef>
                <a:spcPts val="1200"/>
              </a:spcBef>
              <a:defRPr sz="1200">
                <a:solidFill>
                  <a:srgbClr val="FAFAFA"/>
                </a:solidFill>
                <a:latin typeface="Arial"/>
              </a:defRPr>
            </a:pPr>
            <a:r>
              <a:t>Malleable cells that anchor using thread-like pseudopods. They absorb the archaea's toxic ash and refine it into complex lipids and pure glucose, which the tick absorbs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8243"/>
                </a:solidFill>
                <a:latin typeface="Arial"/>
              </a:defRPr>
            </a:pPr>
            <a:r>
              <a:t>Pyrogenic Valve Dynamics</a:t>
            </a:r>
          </a:p>
          <a:p>
            <a:pPr>
              <a:spcBef>
                <a:spcPts val="400"/>
              </a:spcBef>
              <a:defRPr sz="1400">
                <a:solidFill>
                  <a:srgbClr val="DFE5F3"/>
                </a:solidFill>
                <a:latin typeface="Arial"/>
              </a:defRPr>
            </a:pPr>
            <a:r>
              <a:t>Dynamic chemical adjustments of the dual-nozzle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90E2"/>
                </a:solidFill>
                <a:latin typeface="Arial"/>
              </a:defRPr>
            </a:pPr>
            <a:r>
              <a:t>Conical Pre-Wash (Grooming)</a:t>
            </a:r>
          </a:p>
          <a:p>
            <a:pPr>
              <a:spcBef>
                <a:spcPts val="6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• Hyper-Saline Brine: 65% — Creates a dense fluid base to wash surface contaminants.</a:t>
            </a:r>
          </a:p>
          <a:p>
            <a:pPr>
              <a:spcBef>
                <a:spcPts val="6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• Liquid Sulfur Solvent: 20% — Acts as heavy-duty soap to break up thick volcano slime.</a:t>
            </a:r>
          </a:p>
          <a:p>
            <a:pPr>
              <a:spcBef>
                <a:spcPts val="6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• Active Sulfuric Acid: 14% — Dissolves clinging mineral scales without harming skin.</a:t>
            </a:r>
          </a:p>
          <a:p>
            <a:pPr>
              <a:spcBef>
                <a:spcPts val="6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• Dissolved H₂S Gas: 1% — Provides minor baseline propellant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8243"/>
                </a:solidFill>
                <a:latin typeface="Arial"/>
              </a:defRPr>
            </a:pPr>
            <a:r>
              <a:t>Aerosolizing Blast (Defense)</a:t>
            </a:r>
          </a:p>
          <a:p>
            <a:pPr>
              <a:spcBef>
                <a:spcPts val="6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• Hyper-Saline Brine: 75% — Maximized to induce immediate osmotic shock in predators.</a:t>
            </a:r>
          </a:p>
          <a:p>
            <a:pPr>
              <a:spcBef>
                <a:spcPts val="6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• Active Sulfuric Acid: 15% — Strips away protective predator chitin and burns receptors.</a:t>
            </a:r>
          </a:p>
          <a:p>
            <a:pPr>
              <a:spcBef>
                <a:spcPts val="6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• Liquid Sulfur Solvent: 8% — Maintained as a basic fluid carrier.</a:t>
            </a:r>
          </a:p>
          <a:p>
            <a:pPr>
              <a:spcBef>
                <a:spcPts val="600"/>
              </a:spcBef>
              <a:defRPr sz="1300">
                <a:solidFill>
                  <a:srgbClr val="FAFAFA"/>
                </a:solidFill>
                <a:latin typeface="Arial"/>
              </a:defRPr>
            </a:pPr>
            <a:r>
              <a:t>• Dissolved H₂S Gas: 2% — Doubled to act as a violent aerosol can propellant.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8243"/>
                </a:solidFill>
                <a:latin typeface="Arial"/>
              </a:defRPr>
            </a:pPr>
            <a:r>
              <a:t>Life Cycle &amp; Cryptobiotic Pause</a:t>
            </a:r>
          </a:p>
          <a:p>
            <a:pPr>
              <a:spcBef>
                <a:spcPts val="400"/>
              </a:spcBef>
              <a:defRPr sz="1400">
                <a:solidFill>
                  <a:srgbClr val="DFE5F3"/>
                </a:solidFill>
                <a:latin typeface="Arial"/>
              </a:defRPr>
            </a:pPr>
            <a:r>
              <a:t>Chronology driven by thermal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2651760" cy="411480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600" b="1">
                <a:solidFill>
                  <a:srgbClr val="FAFAFA"/>
                </a:solidFill>
                <a:latin typeface="Arial"/>
              </a:defRPr>
            </a:pPr>
            <a:r>
              <a:t>1. The Egg</a:t>
            </a:r>
          </a:p>
          <a:p>
            <a:pPr>
              <a:spcBef>
                <a:spcPts val="1000"/>
              </a:spcBef>
              <a:defRPr sz="1200">
                <a:solidFill>
                  <a:srgbClr val="DFE5F3"/>
                </a:solidFill>
                <a:latin typeface="Arial"/>
              </a:defRPr>
            </a:pPr>
            <a:r>
              <a:t>Deposited directly into active volcano slime, immediately inheriting starter microbes.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2011680"/>
            <a:ext cx="2651760" cy="411480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600" b="1">
                <a:solidFill>
                  <a:srgbClr val="FAFAFA"/>
                </a:solidFill>
                <a:latin typeface="Arial"/>
              </a:defRPr>
            </a:pPr>
            <a:r>
              <a:t>2. The Nymph</a:t>
            </a:r>
          </a:p>
          <a:p>
            <a:pPr>
              <a:spcBef>
                <a:spcPts val="1000"/>
              </a:spcBef>
              <a:defRPr sz="1200">
                <a:solidFill>
                  <a:srgbClr val="DFE5F3"/>
                </a:solidFill>
                <a:latin typeface="Arial"/>
              </a:defRPr>
            </a:pPr>
            <a:r>
              <a:t>Spends 2-6 months grooming its blanket. The fixed core remains static while the outer shell grows.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2011680"/>
            <a:ext cx="2651760" cy="411480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600" b="1">
                <a:solidFill>
                  <a:srgbClr val="FAFAFA"/>
                </a:solidFill>
                <a:latin typeface="Arial"/>
              </a:defRPr>
            </a:pPr>
            <a:r>
              <a:t>3. The Adult</a:t>
            </a:r>
          </a:p>
          <a:p>
            <a:pPr>
              <a:spcBef>
                <a:spcPts val="1000"/>
              </a:spcBef>
              <a:defRPr sz="1200">
                <a:solidFill>
                  <a:srgbClr val="DFE5F3"/>
                </a:solidFill>
                <a:latin typeface="Arial"/>
              </a:defRPr>
            </a:pPr>
            <a:r>
              <a:t>Reaches 0.8 mm. Spends life between 50°C and 85°C absorbing processed sugars.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2011680"/>
            <a:ext cx="2651760" cy="4114800"/>
          </a:xfrm>
          <a:prstGeom prst="rect">
            <a:avLst/>
          </a:prstGeom>
          <a:solidFill>
            <a:srgbClr val="1B2234"/>
          </a:solidFill>
          <a:ln w="12700">
            <a:solidFill>
              <a:srgbClr val="FF82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sz="1600" b="1">
                <a:solidFill>
                  <a:srgbClr val="FF8243"/>
                </a:solidFill>
                <a:latin typeface="Arial"/>
              </a:defRPr>
            </a:pPr>
            <a:r>
              <a:t>4. The Tun State</a:t>
            </a:r>
          </a:p>
          <a:p>
            <a:pPr>
              <a:spcBef>
                <a:spcPts val="1000"/>
              </a:spcBef>
              <a:defRPr sz="1200">
                <a:solidFill>
                  <a:srgbClr val="DFE5F3"/>
                </a:solidFill>
                <a:latin typeface="Arial"/>
              </a:defRPr>
            </a:pPr>
            <a:r>
              <a:t>Triggered below 40°C. Slime seals the pouches, protists glassify inside, pausing life for centuries.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6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8243"/>
                </a:solidFill>
                <a:latin typeface="Arial"/>
              </a:defRPr>
            </a:pPr>
            <a:r>
              <a:t>Geological Ranges &amp; Limits</a:t>
            </a:r>
          </a:p>
          <a:p>
            <a:pPr>
              <a:spcBef>
                <a:spcPts val="400"/>
              </a:spcBef>
              <a:defRPr sz="1400">
                <a:solidFill>
                  <a:srgbClr val="DFE5F3"/>
                </a:solidFill>
                <a:latin typeface="Arial"/>
              </a:defRPr>
            </a:pPr>
            <a:r>
              <a:t>Depth profiles and oceanic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566160" cy="438912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000" b="1">
                <a:solidFill>
                  <a:srgbClr val="FF8243"/>
                </a:solidFill>
                <a:latin typeface="Arial"/>
              </a:defRPr>
            </a:pPr>
            <a:r>
              <a:t>2,500 – 3,000 Meters</a:t>
            </a:r>
          </a:p>
          <a:p>
            <a:pPr>
              <a:spcBef>
                <a:spcPts val="400"/>
              </a:spcBef>
              <a:defRPr sz="1400" b="1">
                <a:solidFill>
                  <a:srgbClr val="FAFAFA"/>
                </a:solidFill>
                <a:latin typeface="Arial"/>
              </a:defRPr>
            </a:pPr>
            <a:r>
              <a:t>Optimal Active Baseline</a:t>
            </a:r>
          </a:p>
          <a:p>
            <a:pPr>
              <a:spcBef>
                <a:spcPts val="1200"/>
              </a:spcBef>
              <a:defRPr sz="1200">
                <a:solidFill>
                  <a:srgbClr val="DFE5F3"/>
                </a:solidFill>
                <a:latin typeface="Arial"/>
              </a:defRPr>
            </a:pPr>
            <a:r>
              <a:t>Standard depth for active oceanic spreading ridges like the Mariana Back-Arc. Tectonic activity continuously feeds slime fields.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828800"/>
            <a:ext cx="3566160" cy="438912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000" b="1">
                <a:solidFill>
                  <a:srgbClr val="FF8243"/>
                </a:solidFill>
                <a:latin typeface="Arial"/>
              </a:defRPr>
            </a:pPr>
            <a:r>
              <a:t>4,080 – 4,200 Meters</a:t>
            </a:r>
          </a:p>
          <a:p>
            <a:pPr>
              <a:spcBef>
                <a:spcPts val="400"/>
              </a:spcBef>
              <a:defRPr sz="1400" b="1">
                <a:solidFill>
                  <a:srgbClr val="FAFAFA"/>
                </a:solidFill>
                <a:latin typeface="Arial"/>
              </a:defRPr>
            </a:pPr>
            <a:r>
              <a:t>Hyper-Dense Mineral Range</a:t>
            </a:r>
          </a:p>
          <a:p>
            <a:pPr>
              <a:spcBef>
                <a:spcPts val="1200"/>
              </a:spcBef>
              <a:defRPr sz="1200">
                <a:solidFill>
                  <a:srgbClr val="DFE5F3"/>
                </a:solidFill>
                <a:latin typeface="Arial"/>
              </a:defRPr>
            </a:pPr>
            <a:r>
              <a:t>Deeper environments such as the Ashadze Vent Field. Massive pressure maximizes fluid density for high-velocity defensive jumps.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828800"/>
            <a:ext cx="3566160" cy="4389120"/>
          </a:xfrm>
          <a:prstGeom prst="rect">
            <a:avLst/>
          </a:prstGeom>
          <a:solidFill>
            <a:srgbClr val="1B2234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2000" b="1">
                <a:solidFill>
                  <a:srgbClr val="FF8243"/>
                </a:solidFill>
                <a:latin typeface="Arial"/>
              </a:defRPr>
            </a:pPr>
            <a:r>
              <a:t>4,960 Meters</a:t>
            </a:r>
          </a:p>
          <a:p>
            <a:pPr>
              <a:spcBef>
                <a:spcPts val="400"/>
              </a:spcBef>
              <a:defRPr sz="1400" b="1">
                <a:solidFill>
                  <a:srgbClr val="FAFAFA"/>
                </a:solidFill>
                <a:latin typeface="Arial"/>
              </a:defRPr>
            </a:pPr>
            <a:r>
              <a:t>The Absolute Depth Limit</a:t>
            </a:r>
          </a:p>
          <a:p>
            <a:pPr>
              <a:spcBef>
                <a:spcPts val="1200"/>
              </a:spcBef>
              <a:defRPr sz="1200">
                <a:solidFill>
                  <a:srgbClr val="DFE5F3"/>
                </a:solidFill>
                <a:latin typeface="Arial"/>
              </a:defRPr>
            </a:pPr>
            <a:r>
              <a:t>The Beebe Hydrothermal Field baseline. Extreme abyssopelagic pressure at this depth destabilizes the internal hydraulic mechanics.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